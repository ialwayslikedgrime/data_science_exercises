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35"/>
  </p:normalViewPr>
  <p:slideViewPr>
    <p:cSldViewPr snapToGrid="0">
      <p:cViewPr>
        <p:scale>
          <a:sx n="125" d="100"/>
          <a:sy n="125" d="100"/>
        </p:scale>
        <p:origin x="280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EBBA93-2E0B-22FC-31C0-BFDDC8E85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537F89-54A6-D57E-0BD1-189EA82AD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7C9866-6816-1CE7-C18E-75F54920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A405B3-96EC-4E08-3B7B-85A9322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2E502B-606A-989E-3D4E-B49CD6F6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38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29DF38-3D4E-9236-F745-3A35DD96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832B7F-3939-64F3-1C2C-F988126CE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DB8EB6-473F-D389-3593-167B21B8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1D19D6-CEE7-10E9-A86E-01D6DE98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EB2203-DE38-3018-5A02-A2828895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14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AF00AA-145A-04A9-0F8E-1FC87EFF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DD54FF-7571-5642-C971-FE230CF0F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1DF226-94AE-FACC-B570-AD007D80F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B4E5FD-8178-5A77-70B3-F491B7F8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287FDE-653A-4C6A-D7B6-6B599A0F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1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E934FF-8E20-7E2C-F725-05D760DB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0258AC-0F9C-1BB8-990E-2C86829F2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177A82-52DE-F6CC-F006-133A72889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4A2A943-05E5-653E-0026-40D2EB250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C30F4D-F138-C009-8605-F7A7A562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4B57FD-C663-06C7-290A-2701A961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313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631101-A7AE-1269-AC43-36F40E17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1434FC-E46C-269A-81C0-369E6225E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35263A-EB09-29EB-8B31-7F8B7145E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0C86ED4-A420-3945-A9B3-5A9B21E27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F499C0-83A0-0F61-B4BE-7DA4DCE75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7C4CEBB-3733-E7D3-5679-A56EB767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AD1398A-4FE9-E366-C90A-77516EAF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ED55058-180B-DA71-6179-63004A52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92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CB9345-E2FF-0BA4-53D4-B7294DB1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AADC540-FB36-9F2F-E8D9-4D7E211A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A2ABC61-A9B0-75DA-6863-F06E03BA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1C6C9A-D121-2C0B-C477-4E24CCB2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748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8442838-180F-FE4E-D339-45599695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DD84914-1349-8E41-3BD6-E0FF186C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5922EA-19BC-22C0-6BD3-7A806751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123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C49799-2AA8-4A33-FC6A-1B6294F8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3052C2-0AB8-4184-CE04-E2FF1E833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B410E7-09FC-1FB5-5A69-83A352782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DF68DC-2A34-8861-291E-1F4CE62F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1F5361-8AC9-1695-77E3-16CFC822E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F4135F-28B2-8770-2E6A-1EB95C1F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971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2EDD77-17ED-860C-9F92-49D93B2E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BF231B-EC3C-569C-15AD-46DAC6992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BA73CD-E240-C99D-608D-C92475F5C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CADD03-4E63-FB22-868B-19B0CAD6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5D0002D-28A4-00EA-1736-C45B63BE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795F5C-154B-EDB4-15FC-62C6BA46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73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16D9A3-2A99-73DD-B8ED-6075FA5B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E5DE68-F83F-1212-2899-8A02D114A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5519B7-B941-7022-CC19-3F0F870F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751313-AE3E-2BE7-C8F8-3315AC8C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1CA91B-41A0-8B1D-B7D4-1CBDA075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600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69BD834-BE80-ED2C-AB43-98472394D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DEECB1-A6CE-12B6-E048-7F6F0EC05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BB6EF6-41B6-B19F-B5E4-0F9B91AF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62C957-DF2D-F2D8-A40D-0C6D44A4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964C91-ACCE-852D-5994-D51ACE1A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682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96D1BC3-7574-70D0-5C33-87B3E9CD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5C41D5-08C2-E625-D14A-6643D296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951B91-08A0-92E0-1F26-37DD5F1F4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58483-A874-2D49-BE7A-1EDE225BD8CD}" type="datetimeFigureOut">
              <a:rPr lang="it-IT" smtClean="0"/>
              <a:t>11/06/26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3DF73D-2DB7-994E-4147-B3F64285C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DE1C9D-10F5-CC1A-B100-82F40F0B0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5BDD3-4B1A-F049-BF05-C76BA72DEB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948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6EC91D-1562-9890-4ACF-0D77ED5BB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Lab marketing 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A1E4909-8F94-613E-BF08-560082830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6175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B36AC-A494-9098-F1A6-67DE03F4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&amp; Who </a:t>
            </a:r>
            <a:r>
              <a:rPr lang="it-IT" dirty="0" err="1"/>
              <a:t>Our</a:t>
            </a:r>
            <a:r>
              <a:rPr lang="it-IT" dirty="0"/>
              <a:t> Customers 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E13DDF-7F6D-55D8-3B9B-2CF104A62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it-IT" dirty="0" err="1"/>
              <a:t>Most</a:t>
            </a:r>
            <a:r>
              <a:rPr lang="it-IT" dirty="0"/>
              <a:t> of the customers do </a:t>
            </a:r>
            <a:r>
              <a:rPr lang="it-IT" dirty="0" err="1"/>
              <a:t>have</a:t>
            </a:r>
            <a:r>
              <a:rPr lang="it-IT" dirty="0"/>
              <a:t> minimum a 2nd </a:t>
            </a:r>
            <a:r>
              <a:rPr lang="it-IT" dirty="0" err="1"/>
              <a:t>cycle</a:t>
            </a:r>
            <a:r>
              <a:rPr lang="it-IT" dirty="0"/>
              <a:t> </a:t>
            </a:r>
            <a:r>
              <a:rPr lang="it-IT" dirty="0" err="1"/>
              <a:t>education</a:t>
            </a:r>
            <a:r>
              <a:rPr lang="it-IT" dirty="0"/>
              <a:t> . </a:t>
            </a:r>
            <a:r>
              <a:rPr lang="it-IT" dirty="0" err="1"/>
              <a:t>Most</a:t>
            </a:r>
            <a:r>
              <a:rPr lang="it-IT" dirty="0"/>
              <a:t> of </a:t>
            </a:r>
            <a:r>
              <a:rPr lang="it-IT" dirty="0" err="1"/>
              <a:t>them</a:t>
            </a:r>
            <a:r>
              <a:rPr lang="it-IT" dirty="0"/>
              <a:t> do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dirty="0" err="1"/>
              <a:t>graduation</a:t>
            </a:r>
            <a:r>
              <a:rPr lang="it-IT" dirty="0"/>
              <a:t> , a master or a </a:t>
            </a:r>
            <a:r>
              <a:rPr lang="it-IT" dirty="0" err="1"/>
              <a:t>phd</a:t>
            </a:r>
            <a:r>
              <a:rPr lang="it-IT" dirty="0"/>
              <a:t>.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education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strictly</a:t>
            </a:r>
            <a:r>
              <a:rPr lang="it-IT" dirty="0"/>
              <a:t> </a:t>
            </a:r>
            <a:r>
              <a:rPr lang="it-IT" dirty="0" err="1"/>
              <a:t>related</a:t>
            </a:r>
            <a:r>
              <a:rPr lang="it-IT" dirty="0"/>
              <a:t> to the </a:t>
            </a:r>
            <a:r>
              <a:rPr lang="it-IT" dirty="0" err="1"/>
              <a:t>amount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spend</a:t>
            </a:r>
            <a:r>
              <a:rPr lang="it-IT" dirty="0"/>
              <a:t>. With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do </a:t>
            </a:r>
            <a:r>
              <a:rPr lang="it-IT" dirty="0" err="1"/>
              <a:t>spend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.</a:t>
            </a:r>
          </a:p>
          <a:p>
            <a:r>
              <a:rPr lang="it-IT" dirty="0"/>
              <a:t>Total spending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categories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strongly</a:t>
            </a:r>
            <a:r>
              <a:rPr lang="it-IT" dirty="0"/>
              <a:t> </a:t>
            </a:r>
            <a:r>
              <a:rPr lang="it-IT" dirty="0" err="1"/>
              <a:t>correlated</a:t>
            </a:r>
            <a:r>
              <a:rPr lang="it-IT" dirty="0"/>
              <a:t> with </a:t>
            </a:r>
            <a:r>
              <a:rPr lang="it-IT" dirty="0" err="1"/>
              <a:t>income</a:t>
            </a:r>
            <a:r>
              <a:rPr lang="it-IT" dirty="0"/>
              <a:t>.</a:t>
            </a:r>
          </a:p>
          <a:p>
            <a:r>
              <a:rPr lang="it-IT" dirty="0"/>
              <a:t>Handling </a:t>
            </a:r>
            <a:r>
              <a:rPr lang="it-IT" dirty="0" err="1"/>
              <a:t>null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: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24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-&gt; i </a:t>
            </a:r>
            <a:r>
              <a:rPr lang="it-IT" dirty="0" err="1"/>
              <a:t>imputed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just the </a:t>
            </a:r>
            <a:r>
              <a:rPr lang="it-IT" dirty="0" err="1"/>
              <a:t>median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rather</a:t>
            </a:r>
            <a:r>
              <a:rPr lang="it-IT" dirty="0"/>
              <a:t> the </a:t>
            </a:r>
            <a:r>
              <a:rPr lang="it-IT" dirty="0" err="1"/>
              <a:t>median</a:t>
            </a:r>
            <a:r>
              <a:rPr lang="it-IT" dirty="0"/>
              <a:t> of the </a:t>
            </a:r>
            <a:r>
              <a:rPr lang="it-IT" dirty="0" err="1"/>
              <a:t>education</a:t>
            </a:r>
            <a:r>
              <a:rPr lang="it-IT" dirty="0"/>
              <a:t> of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level</a:t>
            </a:r>
            <a:r>
              <a:rPr lang="it-IT" dirty="0"/>
              <a:t>. </a:t>
            </a:r>
          </a:p>
          <a:p>
            <a:r>
              <a:rPr lang="it-IT" dirty="0"/>
              <a:t>7 </a:t>
            </a:r>
            <a:r>
              <a:rPr lang="it-IT" dirty="0" err="1"/>
              <a:t>invalid</a:t>
            </a:r>
            <a:r>
              <a:rPr lang="it-IT" dirty="0"/>
              <a:t> entries </a:t>
            </a:r>
            <a:r>
              <a:rPr lang="it-IT" dirty="0" err="1"/>
              <a:t>dropped</a:t>
            </a:r>
            <a:r>
              <a:rPr lang="it-IT" dirty="0"/>
              <a:t> (</a:t>
            </a:r>
            <a:r>
              <a:rPr lang="it-IT" dirty="0" err="1"/>
              <a:t>marital</a:t>
            </a:r>
            <a:r>
              <a:rPr lang="it-IT" dirty="0"/>
              <a:t> status)</a:t>
            </a:r>
          </a:p>
          <a:p>
            <a:r>
              <a:rPr lang="it-IT" dirty="0" err="1"/>
              <a:t>There</a:t>
            </a:r>
            <a:r>
              <a:rPr lang="it-IT" dirty="0"/>
              <a:t> are 25</a:t>
            </a:r>
          </a:p>
          <a:p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faced</a:t>
            </a:r>
            <a:r>
              <a:rPr lang="it-IT" dirty="0"/>
              <a:t> with </a:t>
            </a:r>
            <a:r>
              <a:rPr lang="it-IT" dirty="0" err="1"/>
              <a:t>how</a:t>
            </a:r>
            <a:r>
              <a:rPr lang="it-IT" dirty="0"/>
              <a:t> to deal with </a:t>
            </a:r>
            <a:r>
              <a:rPr lang="it-IT" dirty="0" err="1"/>
              <a:t>outliers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had</a:t>
            </a:r>
            <a:r>
              <a:rPr lang="it-IT" dirty="0"/>
              <a:t> an </a:t>
            </a:r>
            <a:r>
              <a:rPr lang="it-IT" dirty="0" err="1"/>
              <a:t>outlier</a:t>
            </a:r>
            <a:r>
              <a:rPr lang="it-IT" dirty="0"/>
              <a:t> in </a:t>
            </a:r>
            <a:r>
              <a:rPr lang="it-IT" dirty="0" err="1"/>
              <a:t>income</a:t>
            </a:r>
            <a:r>
              <a:rPr lang="it-IT" dirty="0"/>
              <a:t>. The </a:t>
            </a:r>
            <a:r>
              <a:rPr lang="it-IT" dirty="0" err="1"/>
              <a:t>value</a:t>
            </a:r>
            <a:r>
              <a:rPr lang="it-IT" dirty="0"/>
              <a:t> of 6660000, </a:t>
            </a:r>
            <a:r>
              <a:rPr lang="it-IT" dirty="0" err="1"/>
              <a:t>although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excessive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and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plausible</a:t>
            </a:r>
            <a:r>
              <a:rPr lang="it-IT" dirty="0"/>
              <a:t>, and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an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interesting</a:t>
            </a:r>
            <a:r>
              <a:rPr lang="it-IT" dirty="0"/>
              <a:t> single point for </a:t>
            </a:r>
            <a:r>
              <a:rPr lang="it-IT" dirty="0" err="1"/>
              <a:t>investigating</a:t>
            </a:r>
            <a:r>
              <a:rPr lang="it-IT" dirty="0"/>
              <a:t> a single customer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 </a:t>
            </a:r>
            <a:r>
              <a:rPr lang="it-IT" dirty="0" err="1"/>
              <a:t>luxury</a:t>
            </a:r>
            <a:r>
              <a:rPr lang="it-IT" dirty="0"/>
              <a:t> </a:t>
            </a:r>
            <a:r>
              <a:rPr lang="it-IT" dirty="0" err="1"/>
              <a:t>thing</a:t>
            </a:r>
            <a:r>
              <a:rPr lang="it-IT" dirty="0"/>
              <a:t>,  the </a:t>
            </a:r>
            <a:r>
              <a:rPr lang="it-IT" dirty="0" err="1"/>
              <a:t>repeating</a:t>
            </a:r>
            <a:r>
              <a:rPr lang="it-IT" dirty="0"/>
              <a:t> </a:t>
            </a:r>
            <a:r>
              <a:rPr lang="it-IT" dirty="0" err="1"/>
              <a:t>digits</a:t>
            </a:r>
            <a:r>
              <a:rPr lang="it-IT" dirty="0"/>
              <a:t> </a:t>
            </a:r>
            <a:r>
              <a:rPr lang="it-IT" dirty="0" err="1"/>
              <a:t>actually</a:t>
            </a:r>
            <a:r>
              <a:rPr lang="it-IT" dirty="0"/>
              <a:t> makes </a:t>
            </a:r>
            <a:r>
              <a:rPr lang="it-IT" dirty="0" err="1"/>
              <a:t>us</a:t>
            </a:r>
            <a:r>
              <a:rPr lang="it-IT" dirty="0"/>
              <a:t>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 </a:t>
            </a:r>
            <a:r>
              <a:rPr lang="it-IT" dirty="0" err="1"/>
              <a:t>mistake</a:t>
            </a:r>
            <a:r>
              <a:rPr lang="it-IT" dirty="0"/>
              <a:t>.</a:t>
            </a:r>
          </a:p>
          <a:p>
            <a:endParaRPr lang="it-IT" dirty="0"/>
          </a:p>
          <a:p>
            <a:pPr>
              <a:buNone/>
            </a:pPr>
            <a:r>
              <a:rPr lang="it-IT" b="1" dirty="0" err="1"/>
              <a:t>Right</a:t>
            </a:r>
            <a:r>
              <a:rPr lang="it-IT" b="1" dirty="0"/>
              <a:t> </a:t>
            </a:r>
            <a:r>
              <a:rPr lang="it-IT" b="1" dirty="0" err="1"/>
              <a:t>column</a:t>
            </a:r>
            <a:r>
              <a:rPr lang="it-IT" b="1" dirty="0"/>
              <a:t> — "Who Are </a:t>
            </a:r>
            <a:r>
              <a:rPr lang="it-IT" b="1" dirty="0" err="1"/>
              <a:t>Our</a:t>
            </a:r>
            <a:r>
              <a:rPr lang="it-IT" b="1" dirty="0"/>
              <a:t> Customers?"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Avg</a:t>
            </a:r>
            <a:r>
              <a:rPr lang="it-IT" dirty="0"/>
              <a:t>. age: 40–45 </a:t>
            </a:r>
            <a:r>
              <a:rPr lang="it-IT" dirty="0" err="1"/>
              <a:t>years</a:t>
            </a:r>
            <a:r>
              <a:rPr lang="it-IT" dirty="0"/>
              <a:t> (middle-</a:t>
            </a:r>
            <a:r>
              <a:rPr lang="it-IT" dirty="0" err="1"/>
              <a:t>aged</a:t>
            </a:r>
            <a:r>
              <a:rPr lang="it-IT" dirty="0"/>
              <a:t> 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~65% </a:t>
            </a:r>
            <a:r>
              <a:rPr lang="it-IT" dirty="0" err="1"/>
              <a:t>partnered</a:t>
            </a:r>
            <a:r>
              <a:rPr lang="it-IT" dirty="0"/>
              <a:t> (</a:t>
            </a:r>
            <a:r>
              <a:rPr lang="it-IT" dirty="0" err="1"/>
              <a:t>married</a:t>
            </a:r>
            <a:r>
              <a:rPr lang="it-IT" dirty="0"/>
              <a:t> or </a:t>
            </a:r>
            <a:r>
              <a:rPr lang="it-IT" dirty="0" err="1"/>
              <a:t>cohabiting</a:t>
            </a:r>
            <a:r>
              <a:rPr lang="it-IT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Majority</a:t>
            </a:r>
            <a:r>
              <a:rPr lang="it-IT" dirty="0"/>
              <a:t> </a:t>
            </a:r>
            <a:r>
              <a:rPr lang="it-IT" dirty="0" err="1"/>
              <a:t>child</a:t>
            </a:r>
            <a:r>
              <a:rPr lang="it-IT" dirty="0"/>
              <a:t>-free or 1 </a:t>
            </a:r>
            <a:r>
              <a:rPr lang="it-IT" dirty="0" err="1"/>
              <a:t>child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home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Highly </a:t>
            </a:r>
            <a:r>
              <a:rPr lang="it-IT" dirty="0" err="1"/>
              <a:t>educated</a:t>
            </a:r>
            <a:r>
              <a:rPr lang="it-IT" dirty="0"/>
              <a:t>: 80%+ </a:t>
            </a:r>
            <a:r>
              <a:rPr lang="it-IT" dirty="0" err="1"/>
              <a:t>hold</a:t>
            </a:r>
            <a:r>
              <a:rPr lang="it-IT" dirty="0"/>
              <a:t> a </a:t>
            </a:r>
            <a:r>
              <a:rPr lang="it-IT" dirty="0" err="1"/>
              <a:t>university</a:t>
            </a:r>
            <a:r>
              <a:rPr lang="it-IT" dirty="0"/>
              <a:t> 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household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: ~$51,000</a:t>
            </a:r>
          </a:p>
          <a:p>
            <a:pPr>
              <a:buNone/>
            </a:pPr>
            <a:r>
              <a:rPr lang="it-IT" b="1" dirty="0" err="1"/>
              <a:t>highlighted</a:t>
            </a:r>
            <a:r>
              <a:rPr lang="it-IT" b="1" dirty="0"/>
              <a:t> </a:t>
            </a:r>
            <a:r>
              <a:rPr lang="it-IT" b="1" dirty="0" err="1"/>
              <a:t>finding</a:t>
            </a:r>
            <a:r>
              <a:rPr lang="it-IT" b="1" dirty="0"/>
              <a:t> (use a </a:t>
            </a:r>
            <a:r>
              <a:rPr lang="it-IT" b="1" dirty="0" err="1"/>
              <a:t>colored</a:t>
            </a:r>
            <a:r>
              <a:rPr lang="it-IT" b="1" dirty="0"/>
              <a:t> box)</a:t>
            </a:r>
            <a:endParaRPr lang="it-IT" dirty="0"/>
          </a:p>
          <a:p>
            <a:r>
              <a:rPr lang="it-IT" dirty="0"/>
              <a:t>💡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#1 driver of spending (</a:t>
            </a:r>
            <a:r>
              <a:rPr lang="it-IT" dirty="0" err="1"/>
              <a:t>r</a:t>
            </a:r>
            <a:r>
              <a:rPr lang="it-IT" dirty="0"/>
              <a:t> = 0.79) — customers with </a:t>
            </a:r>
            <a:r>
              <a:rPr lang="it-IT" dirty="0" err="1"/>
              <a:t>children</a:t>
            </a:r>
            <a:r>
              <a:rPr lang="it-IT" dirty="0"/>
              <a:t> </a:t>
            </a:r>
            <a:r>
              <a:rPr lang="it-IT" dirty="0" err="1"/>
              <a:t>spend</a:t>
            </a:r>
            <a:r>
              <a:rPr lang="it-IT" dirty="0"/>
              <a:t> up to 3× </a:t>
            </a:r>
            <a:r>
              <a:rPr lang="it-IT" dirty="0" err="1"/>
              <a:t>less</a:t>
            </a:r>
            <a:r>
              <a:rPr lang="it-IT" dirty="0"/>
              <a:t>, </a:t>
            </a:r>
            <a:r>
              <a:rPr lang="it-IT" dirty="0" err="1"/>
              <a:t>regardless</a:t>
            </a:r>
            <a:r>
              <a:rPr lang="it-IT" dirty="0"/>
              <a:t> of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changed</a:t>
            </a:r>
            <a:r>
              <a:rPr lang="it-IT" dirty="0"/>
              <a:t> </a:t>
            </a:r>
            <a:r>
              <a:rPr lang="it-IT" dirty="0" err="1"/>
              <a:t>datetime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an </a:t>
            </a:r>
            <a:r>
              <a:rPr lang="it-IT" dirty="0" err="1"/>
              <a:t>invalid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, from »</a:t>
            </a:r>
            <a:r>
              <a:rPr lang="it-IT" dirty="0" err="1"/>
              <a:t>object</a:t>
            </a:r>
            <a:r>
              <a:rPr lang="it-IT" dirty="0"/>
              <a:t>»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string</a:t>
            </a:r>
            <a:r>
              <a:rPr lang="it-IT" dirty="0"/>
              <a:t> to </a:t>
            </a:r>
            <a:r>
              <a:rPr lang="it-IT" dirty="0" err="1"/>
              <a:t>datetime</a:t>
            </a:r>
            <a:r>
              <a:rPr lang="it-IT" dirty="0"/>
              <a:t>. </a:t>
            </a:r>
            <a:r>
              <a:rPr lang="it-IT" dirty="0" err="1"/>
              <a:t>Decided</a:t>
            </a:r>
            <a:r>
              <a:rPr lang="it-IT" dirty="0"/>
              <a:t> to </a:t>
            </a:r>
            <a:r>
              <a:rPr lang="it-IT" dirty="0" err="1"/>
              <a:t>impute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the time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the customer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a customer </a:t>
            </a:r>
            <a:r>
              <a:rPr lang="it-IT" dirty="0" err="1"/>
              <a:t>starting</a:t>
            </a:r>
            <a:r>
              <a:rPr lang="it-IT" dirty="0"/>
              <a:t> from a </a:t>
            </a:r>
            <a:r>
              <a:rPr lang="it-IT" dirty="0" err="1"/>
              <a:t>reference</a:t>
            </a:r>
            <a:r>
              <a:rPr lang="it-IT" dirty="0"/>
              <a:t> date. </a:t>
            </a:r>
            <a:r>
              <a:rPr lang="it-IT" dirty="0" err="1"/>
              <a:t>Decided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reference</a:t>
            </a:r>
            <a:r>
              <a:rPr lang="it-IT" dirty="0"/>
              <a:t> date </a:t>
            </a:r>
            <a:r>
              <a:rPr lang="it-IT" dirty="0" err="1"/>
              <a:t>was</a:t>
            </a:r>
            <a:r>
              <a:rPr lang="it-IT" dirty="0"/>
              <a:t> the last entry </a:t>
            </a:r>
            <a:r>
              <a:rPr lang="it-IT" dirty="0" err="1"/>
              <a:t>into</a:t>
            </a:r>
            <a:r>
              <a:rPr lang="it-IT" dirty="0"/>
              <a:t> the dataset-  </a:t>
            </a:r>
            <a:r>
              <a:rPr lang="it-IT" dirty="0" err="1"/>
              <a:t>therefore</a:t>
            </a:r>
            <a:r>
              <a:rPr lang="it-IT" dirty="0"/>
              <a:t>- 2014.</a:t>
            </a:r>
          </a:p>
          <a:p>
            <a:pPr marL="0" indent="0">
              <a:buNone/>
            </a:pPr>
            <a:r>
              <a:rPr lang="it-IT" dirty="0" err="1"/>
              <a:t>Outliers</a:t>
            </a:r>
            <a:r>
              <a:rPr lang="it-IT" dirty="0"/>
              <a:t> in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capped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x3 IQR</a:t>
            </a:r>
          </a:p>
          <a:p>
            <a:pPr marL="0" indent="0">
              <a:buNone/>
            </a:pP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some </a:t>
            </a:r>
            <a:r>
              <a:rPr lang="it-IT" dirty="0" err="1"/>
              <a:t>invalid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– </a:t>
            </a:r>
            <a:r>
              <a:rPr lang="it-IT" dirty="0" err="1"/>
              <a:t>regarding</a:t>
            </a:r>
            <a:r>
              <a:rPr lang="it-IT" dirty="0"/>
              <a:t> </a:t>
            </a:r>
            <a:r>
              <a:rPr lang="it-IT" dirty="0" err="1"/>
              <a:t>marital</a:t>
            </a:r>
            <a:r>
              <a:rPr lang="it-IT" dirty="0"/>
              <a:t> status-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YOLO or </a:t>
            </a:r>
            <a:r>
              <a:rPr lang="it-IT" dirty="0" err="1"/>
              <a:t>absurd</a:t>
            </a:r>
            <a:r>
              <a:rPr lang="it-IT" dirty="0"/>
              <a:t> or alone. «alone»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changed</a:t>
            </a:r>
            <a:r>
              <a:rPr lang="it-IT" dirty="0"/>
              <a:t> with «single», </a:t>
            </a:r>
            <a:r>
              <a:rPr lang="it-IT" dirty="0" err="1"/>
              <a:t>while</a:t>
            </a:r>
            <a:r>
              <a:rPr lang="it-IT" dirty="0"/>
              <a:t> the </a:t>
            </a:r>
            <a:r>
              <a:rPr lang="it-IT" dirty="0" err="1"/>
              <a:t>invalid</a:t>
            </a:r>
            <a:r>
              <a:rPr lang="it-IT" dirty="0"/>
              <a:t> </a:t>
            </a:r>
            <a:r>
              <a:rPr lang="it-IT" dirty="0" err="1"/>
              <a:t>ones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dropped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6486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7ABD5B-9DD1-79F2-E286-4CD26905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Marketing insights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BF32D2-2B55-9B7C-F8B3-450E6091F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980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A378A3E-328D-95FA-B704-8D53D64F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4956934E-C216-8901-2F6E-EB8B070A62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it-IT" dirty="0"/>
              <a:t>Data Audit &amp; </a:t>
            </a:r>
            <a:r>
              <a:rPr lang="it-IT" dirty="0" err="1"/>
              <a:t>Cleaning</a:t>
            </a:r>
            <a:endParaRPr lang="it-IT" dirty="0"/>
          </a:p>
          <a:p>
            <a:pPr>
              <a:buNone/>
            </a:pPr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drawing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conclusions</a:t>
            </a:r>
            <a:r>
              <a:rPr lang="it-IT" dirty="0"/>
              <a:t>, the dataset </a:t>
            </a:r>
            <a:r>
              <a:rPr lang="it-IT" dirty="0" err="1"/>
              <a:t>required</a:t>
            </a:r>
            <a:r>
              <a:rPr lang="it-IT" dirty="0"/>
              <a:t> </a:t>
            </a:r>
            <a:r>
              <a:rPr lang="it-IT" dirty="0" err="1"/>
              <a:t>careful</a:t>
            </a:r>
            <a:r>
              <a:rPr lang="it-IT" dirty="0"/>
              <a:t> </a:t>
            </a:r>
            <a:r>
              <a:rPr lang="it-IT" dirty="0" err="1"/>
              <a:t>preparation</a:t>
            </a:r>
            <a:r>
              <a:rPr lang="it-IT" dirty="0"/>
              <a:t>. Of the 27 </a:t>
            </a:r>
            <a:r>
              <a:rPr lang="it-IT" dirty="0" err="1"/>
              <a:t>variables</a:t>
            </a:r>
            <a:r>
              <a:rPr lang="it-IT" dirty="0"/>
              <a:t> </a:t>
            </a:r>
            <a:r>
              <a:rPr lang="it-IT" dirty="0" err="1"/>
              <a:t>collected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2,232 customers, </a:t>
            </a:r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dirty="0" err="1"/>
              <a:t>Income</a:t>
            </a:r>
            <a:r>
              <a:rPr lang="it-IT" dirty="0"/>
              <a:t> field </a:t>
            </a:r>
            <a:r>
              <a:rPr lang="it-IT" dirty="0" err="1"/>
              <a:t>presented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— 24 in </a:t>
            </a:r>
            <a:r>
              <a:rPr lang="it-IT" dirty="0" err="1"/>
              <a:t>total</a:t>
            </a:r>
            <a:r>
              <a:rPr lang="it-IT" dirty="0"/>
              <a:t>.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applying</a:t>
            </a:r>
            <a:r>
              <a:rPr lang="it-IT" dirty="0"/>
              <a:t> a global </a:t>
            </a:r>
            <a:r>
              <a:rPr lang="it-IT" dirty="0" err="1"/>
              <a:t>median</a:t>
            </a:r>
            <a:r>
              <a:rPr lang="it-IT" dirty="0"/>
              <a:t>,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imputed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the </a:t>
            </a: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education</a:t>
            </a:r>
            <a:r>
              <a:rPr lang="it-IT" dirty="0"/>
              <a:t> group, a more precise estimate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respects</a:t>
            </a:r>
            <a:r>
              <a:rPr lang="it-IT" dirty="0"/>
              <a:t> the socio-</a:t>
            </a:r>
            <a:r>
              <a:rPr lang="it-IT" dirty="0" err="1"/>
              <a:t>demographic</a:t>
            </a:r>
            <a:r>
              <a:rPr lang="it-IT" dirty="0"/>
              <a:t> </a:t>
            </a:r>
            <a:r>
              <a:rPr lang="it-IT" dirty="0" err="1"/>
              <a:t>structure</a:t>
            </a:r>
            <a:r>
              <a:rPr lang="it-IT" dirty="0"/>
              <a:t> of the data.</a:t>
            </a:r>
          </a:p>
          <a:p>
            <a:pPr>
              <a:buNone/>
            </a:pPr>
            <a:r>
              <a:rPr lang="it-IT" dirty="0"/>
              <a:t>The </a:t>
            </a:r>
            <a:r>
              <a:rPr lang="it-IT" dirty="0" err="1"/>
              <a:t>enrollment</a:t>
            </a:r>
            <a:r>
              <a:rPr lang="it-IT" dirty="0"/>
              <a:t> date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stored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plain</a:t>
            </a:r>
            <a:r>
              <a:rPr lang="it-IT" dirty="0"/>
              <a:t> text and </a:t>
            </a:r>
            <a:r>
              <a:rPr lang="it-IT" dirty="0" err="1"/>
              <a:t>converted</a:t>
            </a:r>
            <a:r>
              <a:rPr lang="it-IT" dirty="0"/>
              <a:t> to </a:t>
            </a:r>
            <a:r>
              <a:rPr lang="it-IT" dirty="0" err="1"/>
              <a:t>datetime</a:t>
            </a:r>
            <a:r>
              <a:rPr lang="it-IT" dirty="0"/>
              <a:t>. From </a:t>
            </a:r>
            <a:r>
              <a:rPr lang="it-IT" dirty="0" err="1"/>
              <a:t>this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derived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customer's</a:t>
            </a:r>
            <a:r>
              <a:rPr lang="it-IT" dirty="0"/>
              <a:t> seniority — </a:t>
            </a:r>
            <a:r>
              <a:rPr lang="it-IT" dirty="0" err="1"/>
              <a:t>anchored</a:t>
            </a:r>
            <a:r>
              <a:rPr lang="it-IT" dirty="0"/>
              <a:t> to 2014, the last </a:t>
            </a:r>
            <a:r>
              <a:rPr lang="it-IT" dirty="0" err="1"/>
              <a:t>recorded</a:t>
            </a:r>
            <a:r>
              <a:rPr lang="it-IT" dirty="0"/>
              <a:t> entry in the dataset.</a:t>
            </a:r>
          </a:p>
          <a:p>
            <a:pPr>
              <a:buNone/>
            </a:pPr>
            <a:r>
              <a:rPr lang="it-IT" dirty="0"/>
              <a:t>One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stood</a:t>
            </a:r>
            <a:r>
              <a:rPr lang="it-IT" dirty="0"/>
              <a:t> out: $666,666.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impossible</a:t>
            </a:r>
            <a:r>
              <a:rPr lang="it-IT" dirty="0"/>
              <a:t> on </a:t>
            </a:r>
            <a:r>
              <a:rPr lang="it-IT" dirty="0" err="1"/>
              <a:t>its</a:t>
            </a:r>
            <a:r>
              <a:rPr lang="it-IT" dirty="0"/>
              <a:t> face, the </a:t>
            </a:r>
            <a:r>
              <a:rPr lang="it-IT" dirty="0" err="1"/>
              <a:t>repeating</a:t>
            </a:r>
            <a:r>
              <a:rPr lang="it-IT" dirty="0"/>
              <a:t> </a:t>
            </a:r>
            <a:r>
              <a:rPr lang="it-IT" dirty="0" err="1"/>
              <a:t>digits</a:t>
            </a:r>
            <a:r>
              <a:rPr lang="it-IT" dirty="0"/>
              <a:t> </a:t>
            </a:r>
            <a:r>
              <a:rPr lang="it-IT" dirty="0" err="1"/>
              <a:t>combined</a:t>
            </a:r>
            <a:r>
              <a:rPr lang="it-IT" dirty="0"/>
              <a:t> with a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spend</a:t>
            </a:r>
            <a:r>
              <a:rPr lang="it-IT" dirty="0"/>
              <a:t> of just $62 — </a:t>
            </a:r>
            <a:r>
              <a:rPr lang="it-IT" dirty="0" err="1"/>
              <a:t>six</a:t>
            </a:r>
            <a:r>
              <a:rPr lang="it-IT" dirty="0"/>
              <a:t> times </a:t>
            </a:r>
            <a:r>
              <a:rPr lang="it-IT" dirty="0" err="1"/>
              <a:t>below</a:t>
            </a:r>
            <a:r>
              <a:rPr lang="it-IT" dirty="0"/>
              <a:t> the dataset </a:t>
            </a:r>
            <a:r>
              <a:rPr lang="it-IT" dirty="0" err="1"/>
              <a:t>median</a:t>
            </a:r>
            <a:r>
              <a:rPr lang="it-IT" dirty="0"/>
              <a:t> — made </a:t>
            </a:r>
            <a:r>
              <a:rPr lang="it-IT" dirty="0" err="1"/>
              <a:t>it</a:t>
            </a:r>
            <a:r>
              <a:rPr lang="it-IT" dirty="0"/>
              <a:t> clear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 data entry </a:t>
            </a:r>
            <a:r>
              <a:rPr lang="it-IT" dirty="0" err="1"/>
              <a:t>error</a:t>
            </a:r>
            <a:r>
              <a:rPr lang="it-IT" dirty="0"/>
              <a:t>, </a:t>
            </a:r>
            <a:r>
              <a:rPr lang="it-IT" dirty="0" err="1"/>
              <a:t>not</a:t>
            </a:r>
            <a:r>
              <a:rPr lang="it-IT" dirty="0"/>
              <a:t> a genuine high </a:t>
            </a:r>
            <a:r>
              <a:rPr lang="it-IT" dirty="0" err="1"/>
              <a:t>earner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removed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an IQR × 3 cap. </a:t>
            </a:r>
            <a:r>
              <a:rPr lang="it-IT" dirty="0" err="1"/>
              <a:t>considered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random, and </a:t>
            </a:r>
            <a:r>
              <a:rPr lang="it-IT" dirty="0" err="1"/>
              <a:t>therefore</a:t>
            </a:r>
            <a:r>
              <a:rPr lang="it-IT" dirty="0"/>
              <a:t> </a:t>
            </a:r>
            <a:r>
              <a:rPr lang="it-IT" dirty="0" err="1"/>
              <a:t>imputed</a:t>
            </a:r>
            <a:r>
              <a:rPr lang="it-IT" dirty="0"/>
              <a:t> on the </a:t>
            </a:r>
            <a:r>
              <a:rPr lang="it-IT" dirty="0" err="1"/>
              <a:t>basis</a:t>
            </a:r>
            <a:r>
              <a:rPr lang="it-IT" dirty="0"/>
              <a:t> of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education</a:t>
            </a:r>
            <a:r>
              <a:rPr lang="it-IT" dirty="0"/>
              <a:t> group </a:t>
            </a:r>
            <a:r>
              <a:rPr lang="it-IT" dirty="0" err="1"/>
              <a:t>median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 err="1"/>
              <a:t>However</a:t>
            </a:r>
            <a:r>
              <a:rPr lang="it-IT" dirty="0"/>
              <a:t>, </a:t>
            </a:r>
            <a:r>
              <a:rPr lang="it-IT" dirty="0" err="1"/>
              <a:t>considering</a:t>
            </a:r>
            <a:r>
              <a:rPr lang="it-IT" dirty="0"/>
              <a:t> the </a:t>
            </a:r>
            <a:r>
              <a:rPr lang="it-IT" dirty="0" err="1"/>
              <a:t>behavior</a:t>
            </a:r>
            <a:r>
              <a:rPr lang="it-IT" dirty="0"/>
              <a:t> of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individual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pretty</a:t>
            </a:r>
            <a:r>
              <a:rPr lang="it-IT" dirty="0"/>
              <a:t> clear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 digit entry </a:t>
            </a:r>
            <a:r>
              <a:rPr lang="it-IT" dirty="0" err="1"/>
              <a:t>error</a:t>
            </a:r>
            <a:r>
              <a:rPr lang="it-IT" dirty="0"/>
              <a:t>. </a:t>
            </a:r>
          </a:p>
          <a:p>
            <a:r>
              <a:rPr lang="it-IT" dirty="0" err="1"/>
              <a:t>Finally</a:t>
            </a:r>
            <a:r>
              <a:rPr lang="it-IT" dirty="0"/>
              <a:t>, </a:t>
            </a:r>
            <a:r>
              <a:rPr lang="it-IT" dirty="0" err="1"/>
              <a:t>marital</a:t>
            </a:r>
            <a:r>
              <a:rPr lang="it-IT" dirty="0"/>
              <a:t> status </a:t>
            </a:r>
            <a:r>
              <a:rPr lang="it-IT" dirty="0" err="1"/>
              <a:t>contained</a:t>
            </a:r>
            <a:r>
              <a:rPr lang="it-IT" dirty="0"/>
              <a:t>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invalid</a:t>
            </a:r>
            <a:r>
              <a:rPr lang="it-IT" dirty="0"/>
              <a:t> </a:t>
            </a:r>
            <a:r>
              <a:rPr lang="it-IT" dirty="0" err="1"/>
              <a:t>categories</a:t>
            </a:r>
            <a:r>
              <a:rPr lang="it-IT" dirty="0"/>
              <a:t>: Alone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recoded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Single,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Absurd</a:t>
            </a:r>
            <a:r>
              <a:rPr lang="it-IT" dirty="0"/>
              <a:t> and YOLO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dropped</a:t>
            </a:r>
            <a:r>
              <a:rPr lang="it-IT" dirty="0"/>
              <a:t> — 7 </a:t>
            </a:r>
            <a:r>
              <a:rPr lang="it-IT" dirty="0" err="1"/>
              <a:t>rows</a:t>
            </a:r>
            <a:r>
              <a:rPr lang="it-IT" dirty="0"/>
              <a:t> in </a:t>
            </a:r>
            <a:r>
              <a:rPr lang="it-IT" dirty="0" err="1"/>
              <a:t>total</a:t>
            </a:r>
            <a:r>
              <a:rPr lang="it-IT" dirty="0"/>
              <a:t>.</a:t>
            </a:r>
          </a:p>
          <a:p>
            <a:r>
              <a:rPr lang="it-IT" dirty="0"/>
              <a:t>Data </a:t>
            </a:r>
            <a:r>
              <a:rPr lang="it-IT" dirty="0" err="1"/>
              <a:t>transformation</a:t>
            </a:r>
            <a:r>
              <a:rPr lang="it-IT" dirty="0"/>
              <a:t>: age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calculated</a:t>
            </a:r>
            <a:r>
              <a:rPr lang="it-IT" dirty="0"/>
              <a:t> </a:t>
            </a:r>
            <a:r>
              <a:rPr lang="it-IT" dirty="0" err="1"/>
              <a:t>starting</a:t>
            </a:r>
            <a:r>
              <a:rPr lang="it-IT" dirty="0"/>
              <a:t> from the </a:t>
            </a:r>
            <a:r>
              <a:rPr lang="it-IT" dirty="0" err="1"/>
              <a:t>reference</a:t>
            </a:r>
            <a:r>
              <a:rPr lang="it-IT" dirty="0"/>
              <a:t> date – to the last date. </a:t>
            </a:r>
          </a:p>
          <a:p>
            <a:pPr>
              <a:buNone/>
            </a:pPr>
            <a:r>
              <a:rPr lang="it-IT" dirty="0"/>
              <a:t>Who Are </a:t>
            </a:r>
            <a:r>
              <a:rPr lang="it-IT" dirty="0" err="1"/>
              <a:t>Our</a:t>
            </a:r>
            <a:r>
              <a:rPr lang="it-IT" dirty="0"/>
              <a:t> Customers?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The customer base </a:t>
            </a:r>
            <a:r>
              <a:rPr lang="it-IT" dirty="0" err="1"/>
              <a:t>skews</a:t>
            </a:r>
            <a:r>
              <a:rPr lang="it-IT" dirty="0"/>
              <a:t> middle-</a:t>
            </a:r>
            <a:r>
              <a:rPr lang="it-IT" dirty="0" err="1"/>
              <a:t>aged</a:t>
            </a:r>
            <a:r>
              <a:rPr lang="it-IT" dirty="0"/>
              <a:t>, with </a:t>
            </a:r>
            <a:r>
              <a:rPr lang="it-IT" dirty="0" err="1"/>
              <a:t>most</a:t>
            </a:r>
            <a:r>
              <a:rPr lang="it-IT" dirty="0"/>
              <a:t> customers </a:t>
            </a:r>
            <a:r>
              <a:rPr lang="it-IT" dirty="0" err="1"/>
              <a:t>falling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40 and 45 </a:t>
            </a:r>
            <a:r>
              <a:rPr lang="it-IT" dirty="0" err="1"/>
              <a:t>years</a:t>
            </a:r>
            <a:r>
              <a:rPr lang="it-IT" dirty="0"/>
              <a:t> </a:t>
            </a:r>
            <a:r>
              <a:rPr lang="it-IT" dirty="0" err="1"/>
              <a:t>old</a:t>
            </a:r>
            <a:r>
              <a:rPr lang="it-IT" dirty="0"/>
              <a:t>. </a:t>
            </a:r>
            <a:r>
              <a:rPr lang="it-IT" dirty="0" err="1"/>
              <a:t>Around</a:t>
            </a:r>
            <a:r>
              <a:rPr lang="it-IT" dirty="0"/>
              <a:t> 65% are </a:t>
            </a:r>
            <a:r>
              <a:rPr lang="it-IT" dirty="0" err="1"/>
              <a:t>partnered</a:t>
            </a:r>
            <a:r>
              <a:rPr lang="it-IT" dirty="0"/>
              <a:t>, and the </a:t>
            </a:r>
            <a:r>
              <a:rPr lang="it-IT" dirty="0" err="1"/>
              <a:t>majority</a:t>
            </a:r>
            <a:r>
              <a:rPr lang="it-IT" dirty="0"/>
              <a:t> live in </a:t>
            </a:r>
            <a:r>
              <a:rPr lang="it-IT" dirty="0" err="1"/>
              <a:t>households</a:t>
            </a:r>
            <a:r>
              <a:rPr lang="it-IT" dirty="0"/>
              <a:t> with no </a:t>
            </a:r>
            <a:r>
              <a:rPr lang="it-IT" dirty="0" err="1"/>
              <a:t>children</a:t>
            </a:r>
            <a:r>
              <a:rPr lang="it-IT" dirty="0"/>
              <a:t> or just one. </a:t>
            </a: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household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sits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approximately</a:t>
            </a:r>
            <a:r>
              <a:rPr lang="it-IT" dirty="0"/>
              <a:t> $51,000. </a:t>
            </a:r>
          </a:p>
          <a:p>
            <a:pPr>
              <a:buNone/>
            </a:pPr>
            <a:r>
              <a:rPr lang="it-IT" dirty="0"/>
              <a:t>I assume $ </a:t>
            </a:r>
            <a:r>
              <a:rPr lang="it-IT" dirty="0" err="1"/>
              <a:t>as</a:t>
            </a:r>
            <a:r>
              <a:rPr lang="it-IT" dirty="0"/>
              <a:t> the dataset </a:t>
            </a:r>
            <a:r>
              <a:rPr lang="it-IT" dirty="0" err="1"/>
              <a:t>is</a:t>
            </a:r>
            <a:r>
              <a:rPr lang="it-IT" dirty="0"/>
              <a:t> from 2012- and the </a:t>
            </a:r>
            <a:r>
              <a:rPr lang="it-IT" dirty="0" err="1"/>
              <a:t>average</a:t>
            </a:r>
            <a:r>
              <a:rPr lang="it-IT" dirty="0"/>
              <a:t> </a:t>
            </a:r>
            <a:r>
              <a:rPr lang="it-IT" dirty="0" err="1"/>
              <a:t>salary</a:t>
            </a:r>
            <a:r>
              <a:rPr lang="it-IT" dirty="0"/>
              <a:t> of 51000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above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european</a:t>
            </a:r>
            <a:r>
              <a:rPr lang="it-IT" dirty="0"/>
              <a:t> countries,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near</a:t>
            </a:r>
            <a:r>
              <a:rPr lang="it-IT" dirty="0"/>
              <a:t> to USA one.</a:t>
            </a:r>
          </a:p>
          <a:p>
            <a:r>
              <a:rPr lang="it-IT" dirty="0" err="1"/>
              <a:t>Education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 are </a:t>
            </a:r>
            <a:r>
              <a:rPr lang="it-IT" dirty="0" err="1"/>
              <a:t>notably</a:t>
            </a:r>
            <a:r>
              <a:rPr lang="it-IT" dirty="0"/>
              <a:t> high — over 80% </a:t>
            </a:r>
            <a:r>
              <a:rPr lang="it-IT" dirty="0" err="1"/>
              <a:t>hold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a </a:t>
            </a:r>
            <a:r>
              <a:rPr lang="it-IT" dirty="0" err="1"/>
              <a:t>university</a:t>
            </a:r>
            <a:r>
              <a:rPr lang="it-IT" dirty="0"/>
              <a:t> degree, with </a:t>
            </a:r>
            <a:r>
              <a:rPr lang="it-IT" dirty="0" err="1"/>
              <a:t>Graduation</a:t>
            </a:r>
            <a:r>
              <a:rPr lang="it-IT" dirty="0"/>
              <a:t>, Master, and PhD customers </a:t>
            </a:r>
            <a:r>
              <a:rPr lang="it-IT" dirty="0" err="1"/>
              <a:t>dominating</a:t>
            </a:r>
            <a:r>
              <a:rPr lang="it-IT" dirty="0"/>
              <a:t> the base.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matters</a:t>
            </a:r>
            <a:r>
              <a:rPr lang="it-IT" dirty="0"/>
              <a:t>: </a:t>
            </a:r>
            <a:r>
              <a:rPr lang="it-IT" dirty="0" err="1"/>
              <a:t>education</a:t>
            </a:r>
            <a:r>
              <a:rPr lang="it-IT" dirty="0"/>
              <a:t> tracks </a:t>
            </a:r>
            <a:r>
              <a:rPr lang="it-IT" dirty="0" err="1"/>
              <a:t>closely</a:t>
            </a:r>
            <a:r>
              <a:rPr lang="it-IT" dirty="0"/>
              <a:t> with spending, with Basic-</a:t>
            </a:r>
            <a:r>
              <a:rPr lang="it-IT" dirty="0" err="1"/>
              <a:t>educated</a:t>
            </a:r>
            <a:r>
              <a:rPr lang="it-IT" dirty="0"/>
              <a:t> customers </a:t>
            </a:r>
            <a:r>
              <a:rPr lang="it-IT" dirty="0" err="1"/>
              <a:t>consistently</a:t>
            </a:r>
            <a:r>
              <a:rPr lang="it-IT" dirty="0"/>
              <a:t> spending the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categories</a:t>
            </a:r>
            <a:r>
              <a:rPr lang="it-IT" dirty="0"/>
              <a:t>.</a:t>
            </a:r>
          </a:p>
          <a:p>
            <a:pPr marL="0" indent="0">
              <a:buNone/>
            </a:pPr>
            <a:r>
              <a:rPr lang="it-IT" dirty="0"/>
              <a:t>I do derive the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kids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being</a:t>
            </a:r>
            <a:r>
              <a:rPr lang="it-IT" dirty="0"/>
              <a:t> teen + </a:t>
            </a:r>
            <a:r>
              <a:rPr lang="it-IT" dirty="0" err="1"/>
              <a:t>children</a:t>
            </a:r>
            <a:r>
              <a:rPr lang="it-IT" dirty="0"/>
              <a:t> </a:t>
            </a:r>
          </a:p>
          <a:p>
            <a:endParaRPr lang="it-IT" dirty="0"/>
          </a:p>
          <a:p>
            <a:endParaRPr lang="it-IT" dirty="0"/>
          </a:p>
          <a:p>
            <a:pPr>
              <a:lnSpc>
                <a:spcPts val="1350"/>
              </a:lnSpc>
              <a:buNone/>
            </a:pP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#### Key 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Observations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— Customer 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Profile</a:t>
            </a:r>
            <a:endParaRPr lang="it-IT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**Age**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distribution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right-skewed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unimodal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with a clear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peak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around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40–45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years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distribution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has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long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tail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toward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older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ages, with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 moderate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concentration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of customers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between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55–70. The customer base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predominantly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middle-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aged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with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very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few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customers under 30.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Income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distribution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appears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approximately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normal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in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its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core range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(€20k–€80k), with a long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tail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extending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to ~€160k.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tail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likely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reflects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small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segment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genuinely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high-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income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customers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rather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than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systematic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skew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—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consistent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with the IQR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analysis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in Task A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which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identified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only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one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outlier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(666,666)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that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was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removed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Education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the large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majority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of customers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hold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university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degree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Graduation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=1,1225),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followed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by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`PhD`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(483) and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`Master`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(369).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Only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54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customers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have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`Basic`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education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—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highly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educated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customer base.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**Partnership status**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approximately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65% of customers are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partnered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Married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or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Together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suggesting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the dataset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reflects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mostly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household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purchasing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decisions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rather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than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individual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ones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**Children**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most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customers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have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0 or 1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child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home.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Very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few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have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3 —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household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composition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skews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toward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smaller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families.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**Seniority**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enrollment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dates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are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fairly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uniformly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distributed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across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the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~24-month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observation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window,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suggesting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steady customer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acquisition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rate </a:t>
            </a:r>
          </a:p>
          <a:p>
            <a:pPr>
              <a:lnSpc>
                <a:spcPts val="1350"/>
              </a:lnSpc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with no strong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seasonal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spikes.</a:t>
            </a:r>
          </a:p>
          <a:p>
            <a:endParaRPr lang="it-IT" dirty="0"/>
          </a:p>
          <a:p>
            <a:r>
              <a:rPr lang="it-IT" dirty="0"/>
              <a:t>💡 The single </a:t>
            </a:r>
            <a:r>
              <a:rPr lang="it-IT" dirty="0" err="1"/>
              <a:t>strongest</a:t>
            </a:r>
            <a:r>
              <a:rPr lang="it-IT" dirty="0"/>
              <a:t> </a:t>
            </a:r>
            <a:r>
              <a:rPr lang="it-IT" dirty="0" err="1"/>
              <a:t>predictor</a:t>
            </a:r>
            <a:r>
              <a:rPr lang="it-IT" dirty="0"/>
              <a:t> of spending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(</a:t>
            </a:r>
            <a:r>
              <a:rPr lang="it-IT" dirty="0" err="1"/>
              <a:t>r</a:t>
            </a:r>
            <a:r>
              <a:rPr lang="it-IT" dirty="0"/>
              <a:t> = 0.79). Customers with </a:t>
            </a:r>
            <a:r>
              <a:rPr lang="it-IT" dirty="0" err="1"/>
              <a:t>children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home </a:t>
            </a:r>
            <a:r>
              <a:rPr lang="it-IT" dirty="0" err="1"/>
              <a:t>spend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—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discretionary</a:t>
            </a:r>
            <a:r>
              <a:rPr lang="it-IT" dirty="0"/>
              <a:t> budget </a:t>
            </a:r>
            <a:r>
              <a:rPr lang="it-IT" dirty="0" err="1"/>
              <a:t>appears</a:t>
            </a:r>
            <a:r>
              <a:rPr lang="it-IT" dirty="0"/>
              <a:t> </a:t>
            </a:r>
            <a:r>
              <a:rPr lang="it-IT" dirty="0" err="1"/>
              <a:t>redirected</a:t>
            </a:r>
            <a:r>
              <a:rPr lang="it-IT" dirty="0"/>
              <a:t> </a:t>
            </a:r>
            <a:r>
              <a:rPr lang="it-IT" dirty="0" err="1"/>
              <a:t>away</a:t>
            </a:r>
            <a:r>
              <a:rPr lang="it-IT" dirty="0"/>
              <a:t> from the </a:t>
            </a:r>
            <a:r>
              <a:rPr lang="it-IT" dirty="0" err="1"/>
              <a:t>categories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company sells.</a:t>
            </a:r>
          </a:p>
          <a:p>
            <a:endParaRPr lang="it-IT" dirty="0"/>
          </a:p>
          <a:p>
            <a:pPr>
              <a:lnSpc>
                <a:spcPts val="1350"/>
              </a:lnSpc>
              <a:buNone/>
            </a:pP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#### Key 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Observations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— Spending by Socio-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demographic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Group</a:t>
            </a:r>
            <a:endParaRPr lang="it-IT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Education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spending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increases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monotonically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with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education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level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`Basic`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customers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spend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almost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nothing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median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~€0k),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`PhD`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Graduation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it-IT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`Master`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customers show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highest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median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spending and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widest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spread.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confirms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ordinal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encoding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choice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made in Task A —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education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meaningful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predictor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of spending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behaviour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**Partnership status**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surprisingly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there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almost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no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difference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in spending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between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partnered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and non-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partnered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customers.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two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boxes are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nearly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identical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in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median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and spread,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suggesting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that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partnership status alone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 strong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driver of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total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spending.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may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however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interact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with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other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variables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(e.g.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children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).</a:t>
            </a:r>
          </a:p>
          <a:p>
            <a:pPr>
              <a:lnSpc>
                <a:spcPts val="1350"/>
              </a:lnSpc>
              <a:buNone/>
            </a:pPr>
            <a:b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6796E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children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most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striking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pattern in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panel. Customers with </a:t>
            </a:r>
          </a:p>
          <a:p>
            <a:pPr>
              <a:lnSpc>
                <a:spcPts val="1350"/>
              </a:lnSpc>
              <a:buNone/>
            </a:pP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**0 </a:t>
            </a:r>
            <a:r>
              <a:rPr lang="it-IT" b="1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children</a:t>
            </a:r>
            <a:r>
              <a:rPr lang="it-IT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spend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dramatically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more (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median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~€1k)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compared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those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with 1, 2,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or 3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children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whose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spending drops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sharply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progressively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consistent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with the strong negative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correlation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(−0.50)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observed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in the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heatmap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later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.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Probably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having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children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redirects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household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budget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away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from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discretionary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categories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such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it-IT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wine</a:t>
            </a:r>
            <a:r>
              <a:rPr lang="it-IT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and premium food.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568B4B4-ADA0-4E05-B4E3-C982995D6A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03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0E6ED5-CF17-35B2-23AD-4865DCC5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Customer </a:t>
            </a:r>
            <a:r>
              <a:rPr lang="it-IT" dirty="0" err="1"/>
              <a:t>Segmentation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742BB4-F762-6710-FB76-4CFE18F712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EDA </a:t>
            </a:r>
            <a:r>
              <a:rPr lang="it-IT" dirty="0" err="1"/>
              <a:t>revealed</a:t>
            </a:r>
            <a:r>
              <a:rPr lang="it-IT" dirty="0"/>
              <a:t> a high-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niche</a:t>
            </a:r>
            <a:r>
              <a:rPr lang="it-IT" dirty="0"/>
              <a:t>: high-</a:t>
            </a:r>
            <a:r>
              <a:rPr lang="it-IT" dirty="0" err="1"/>
              <a:t>income</a:t>
            </a:r>
            <a:r>
              <a:rPr lang="it-IT" dirty="0"/>
              <a:t>, </a:t>
            </a:r>
            <a:r>
              <a:rPr lang="it-IT" dirty="0" err="1"/>
              <a:t>child</a:t>
            </a:r>
            <a:r>
              <a:rPr lang="it-IT" dirty="0"/>
              <a:t>-free customers (~20% of the base) </a:t>
            </a:r>
            <a:r>
              <a:rPr lang="it-IT" dirty="0" err="1"/>
              <a:t>spend</a:t>
            </a:r>
            <a:r>
              <a:rPr lang="it-IT" dirty="0"/>
              <a:t> on </a:t>
            </a:r>
            <a:r>
              <a:rPr lang="it-IT" dirty="0" err="1"/>
              <a:t>average</a:t>
            </a:r>
            <a:r>
              <a:rPr lang="it-IT" dirty="0"/>
              <a:t> 3× more </a:t>
            </a:r>
            <a:r>
              <a:rPr lang="it-IT" dirty="0" err="1"/>
              <a:t>than</a:t>
            </a:r>
            <a:r>
              <a:rPr lang="it-IT" dirty="0"/>
              <a:t> the </a:t>
            </a:r>
            <a:r>
              <a:rPr lang="it-IT" dirty="0" err="1"/>
              <a:t>rest</a:t>
            </a:r>
            <a:r>
              <a:rPr lang="it-IT" dirty="0"/>
              <a:t> — </a:t>
            </a:r>
            <a:r>
              <a:rPr lang="it-IT" dirty="0" err="1"/>
              <a:t>concentrated</a:t>
            </a:r>
            <a:r>
              <a:rPr lang="it-IT" dirty="0"/>
              <a:t> in </a:t>
            </a:r>
            <a:r>
              <a:rPr lang="it-IT" dirty="0" err="1"/>
              <a:t>wine</a:t>
            </a:r>
            <a:r>
              <a:rPr lang="it-IT" dirty="0"/>
              <a:t>, </a:t>
            </a:r>
            <a:r>
              <a:rPr lang="it-IT" dirty="0" err="1"/>
              <a:t>meat</a:t>
            </a:r>
            <a:r>
              <a:rPr lang="it-IT" dirty="0"/>
              <a:t> and premium </a:t>
            </a:r>
            <a:r>
              <a:rPr lang="it-IT" dirty="0" err="1"/>
              <a:t>categories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9C94AA6-A84C-3E00-C1F5-DFB0DF28C8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880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762D61-86B8-F3ED-ACB9-468C59A6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E6E58-5111-1BBF-5A65-8618C3247B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ED7143-AE9F-BCF3-4A41-6EC7207906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89391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1305</Words>
  <Application>Microsoft Macintosh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Menlo</vt:lpstr>
      <vt:lpstr>Tema di Office</vt:lpstr>
      <vt:lpstr>Lab marketing 1</vt:lpstr>
      <vt:lpstr>Data &amp; Who Our Customers Are</vt:lpstr>
      <vt:lpstr>Marketing insights</vt:lpstr>
      <vt:lpstr>Presentazione standard di PowerPoint</vt:lpstr>
      <vt:lpstr>Customer Segmentation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STELLA ANDORNO</dc:creator>
  <cp:lastModifiedBy>STELLA ANDORNO</cp:lastModifiedBy>
  <cp:revision>1</cp:revision>
  <dcterms:created xsi:type="dcterms:W3CDTF">2026-06-11T17:11:47Z</dcterms:created>
  <dcterms:modified xsi:type="dcterms:W3CDTF">2026-06-11T20:26:04Z</dcterms:modified>
</cp:coreProperties>
</file>